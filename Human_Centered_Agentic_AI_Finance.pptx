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7" r:id="rId10"/>
    <p:sldId id="268" r:id="rId11"/>
    <p:sldId id="263" r:id="rId12"/>
    <p:sldId id="264" r:id="rId13"/>
    <p:sldId id="26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7314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motivation: AI agents are powerful, but finance demands trust and human accountability.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AutoML and autonomous agents can be dangerous in regulated finance.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Core idea: AI assists, humans decide. Judge agent acts as a third eye.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agent structure: memory, tools, planning like real ML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flexible collaboration styles depending on task complexity.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Each agent has a clear role to reduce hallucination.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Each agent has a clear role to reduce hallucination.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462147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Human oversight ensures reliability and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Human oversight ensures reliability and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291063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Human oversight ensures reliability and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674721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Agentic model outperforms AutoML in recall and F1.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Agentic system avoids common methodological flaws.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Conclusion: Human-centered AI is essential in finance.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4031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Human-Centered Agentic Framework for Machine Learning Modeling in Finance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4798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Challenges in Financial ML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64080"/>
            <a:ext cx="8229600" cy="3636963"/>
          </a:xfrm>
        </p:spPr>
        <p:txBody>
          <a:bodyPr/>
          <a:lstStyle/>
          <a:p>
            <a:r>
              <a:rPr dirty="0"/>
              <a:t> Complex ML pipelines</a:t>
            </a:r>
          </a:p>
          <a:p>
            <a:r>
              <a:rPr dirty="0"/>
              <a:t> </a:t>
            </a:r>
            <a:r>
              <a:rPr dirty="0" err="1"/>
              <a:t>AutoML</a:t>
            </a:r>
            <a:r>
              <a:rPr dirty="0"/>
              <a:t> lacks transparency</a:t>
            </a:r>
          </a:p>
          <a:p>
            <a:r>
              <a:rPr dirty="0"/>
              <a:t> Hallucination &amp; data leakage risks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Human-Centered Agentic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Multi-agent collaboration</a:t>
            </a:r>
          </a:p>
          <a:p>
            <a:r>
              <a:rPr dirty="0"/>
              <a:t> Human as orchestrator</a:t>
            </a:r>
          </a:p>
          <a:p>
            <a:r>
              <a:rPr dirty="0"/>
              <a:t> Judge agent as oversight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36040"/>
            <a:ext cx="8229600" cy="4525963"/>
          </a:xfrm>
        </p:spPr>
        <p:txBody>
          <a:bodyPr>
            <a:normAutofit/>
          </a:bodyPr>
          <a:lstStyle/>
          <a:p>
            <a:r>
              <a:rPr sz="2000" dirty="0"/>
              <a:t> Agent core (LLM, persona)</a:t>
            </a:r>
          </a:p>
          <a:p>
            <a:r>
              <a:rPr sz="2000" dirty="0"/>
              <a:t> Memory modules</a:t>
            </a:r>
          </a:p>
          <a:p>
            <a:r>
              <a:rPr sz="2000" dirty="0"/>
              <a:t> Tools &amp; planning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754741-C1E6-4AEF-90C9-91B87ED38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270" y="2631275"/>
            <a:ext cx="5997460" cy="38103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Collaboration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Horizontal</a:t>
            </a:r>
          </a:p>
          <a:p>
            <a:r>
              <a:rPr dirty="0"/>
              <a:t> Hierarchical</a:t>
            </a:r>
          </a:p>
          <a:p>
            <a:r>
              <a:rPr dirty="0"/>
              <a:t> Nested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5A329C-B42D-418F-B76B-B66D282E0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085" y="3565287"/>
            <a:ext cx="6104149" cy="27434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Crew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Data &amp; EDA</a:t>
            </a:r>
          </a:p>
          <a:p>
            <a:r>
              <a:rPr dirty="0"/>
              <a:t>• Feature engineering</a:t>
            </a:r>
          </a:p>
          <a:p>
            <a:r>
              <a:rPr dirty="0"/>
              <a:t>• Training &amp; evaluation</a:t>
            </a:r>
          </a:p>
          <a:p>
            <a:r>
              <a:rPr dirty="0"/>
              <a:t>• Documentation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Crew Roles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428046-0E4B-46FF-9422-4B2D52A1E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A57FFE-DE49-41EA-ABE2-033AAB027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46" y="293098"/>
            <a:ext cx="7712108" cy="6271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736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Human-in-the-Loop (HITL)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Human feedback</a:t>
            </a:r>
          </a:p>
          <a:p>
            <a:r>
              <a:t>• Error correction</a:t>
            </a:r>
          </a:p>
          <a:p>
            <a:r>
              <a:t>• Auditability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799806-2DC0-4B79-ADBF-97030662F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524" y="4216380"/>
            <a:ext cx="6144951" cy="6502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Human-in-the-Loop (HITL)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4A6B9C-2663-4BD7-A932-1F511A1AE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6054"/>
            <a:ext cx="9144000" cy="416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586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Human-in-the-Loop (HITL)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541DF1-3936-443F-83F2-96856C128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357" y="1493520"/>
            <a:ext cx="6523285" cy="4861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390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Experiment: Fraud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Highly imbalanced data</a:t>
            </a:r>
          </a:p>
          <a:p>
            <a:r>
              <a:rPr dirty="0"/>
              <a:t> Recall 81.6%</a:t>
            </a:r>
          </a:p>
          <a:p>
            <a:r>
              <a:rPr dirty="0"/>
              <a:t> F1-score 88.9%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110C7B-89B2-4373-8CFE-8B83C32E8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884" y="3525520"/>
            <a:ext cx="8070231" cy="28753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Experiment: Credit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/>
          <a:lstStyle/>
          <a:p>
            <a:r>
              <a:rPr dirty="0"/>
              <a:t> Comparable accuracy</a:t>
            </a:r>
          </a:p>
          <a:p>
            <a:r>
              <a:rPr dirty="0"/>
              <a:t> No data leakage</a:t>
            </a:r>
          </a:p>
          <a:p>
            <a:r>
              <a:rPr dirty="0"/>
              <a:t> Stronger rigor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33FCF2-4D70-4864-ACB8-D06FCD006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55539"/>
            <a:ext cx="9144000" cy="352782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Agentic AI needs guardrails</a:t>
            </a:r>
          </a:p>
          <a:p>
            <a:r>
              <a:rPr dirty="0"/>
              <a:t> HITL reduces risk</a:t>
            </a:r>
          </a:p>
          <a:p>
            <a:r>
              <a:rPr dirty="0"/>
              <a:t> Trustworthy AI wins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289</Words>
  <Application>Microsoft Office PowerPoint</Application>
  <PresentationFormat>On-screen Show (4:3)</PresentationFormat>
  <Paragraphs>54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Human-Centered Agentic Framework for Machine Learning Modeling in Finance</vt:lpstr>
      <vt:lpstr>Challenges in Financial ML Modeling</vt:lpstr>
      <vt:lpstr>Human-Centered Agentic Modeling</vt:lpstr>
      <vt:lpstr>Agentic System Architecture</vt:lpstr>
      <vt:lpstr>Agent Collaboration Strategies</vt:lpstr>
      <vt:lpstr>Modeling Crew Roles</vt:lpstr>
      <vt:lpstr>Modeling Crew Roles</vt:lpstr>
      <vt:lpstr>Human-in-the-Loop (HITL)</vt:lpstr>
      <vt:lpstr>Human-in-the-Loop (HITL)</vt:lpstr>
      <vt:lpstr>Human-in-the-Loop (HITL)</vt:lpstr>
      <vt:lpstr>Experiment: Fraud Detection</vt:lpstr>
      <vt:lpstr>Experiment: Credit Risk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Human-Centered Agentic Framework for Machine Learning Modeling in Finance</dc:title>
  <dc:subject/>
  <dc:creator/>
  <cp:keywords/>
  <dc:description>generated using python-pptx</dc:description>
  <cp:lastModifiedBy>Lương Như Ý</cp:lastModifiedBy>
  <cp:revision>4</cp:revision>
  <dcterms:created xsi:type="dcterms:W3CDTF">2013-01-27T09:14:16Z</dcterms:created>
  <dcterms:modified xsi:type="dcterms:W3CDTF">2025-12-21T10:26:41Z</dcterms:modified>
  <cp:category/>
</cp:coreProperties>
</file>